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490" r:id="rId2"/>
    <p:sldId id="647" r:id="rId3"/>
    <p:sldId id="668" r:id="rId4"/>
    <p:sldId id="674" r:id="rId5"/>
    <p:sldId id="651" r:id="rId6"/>
    <p:sldId id="671" r:id="rId7"/>
    <p:sldId id="672" r:id="rId8"/>
    <p:sldId id="673" r:id="rId9"/>
    <p:sldId id="545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2D0"/>
    <a:srgbClr val="BEE2F2"/>
    <a:srgbClr val="FF0000"/>
    <a:srgbClr val="FF8357"/>
    <a:srgbClr val="E2F0D9"/>
    <a:srgbClr val="E7FCE3"/>
    <a:srgbClr val="A81A34"/>
    <a:srgbClr val="4A3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24" autoAdjust="0"/>
    <p:restoredTop sz="88767"/>
  </p:normalViewPr>
  <p:slideViewPr>
    <p:cSldViewPr snapToGrid="0">
      <p:cViewPr varScale="1">
        <p:scale>
          <a:sx n="108" d="100"/>
          <a:sy n="108" d="100"/>
        </p:scale>
        <p:origin x="9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6201-6CAB-B2D8-EE2D-5FDB6A8D1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F588C4-67AB-D688-86E3-88D3EC627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7CC79F-5827-C022-B42E-59898820903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4266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91D9-D2B7-0822-30C0-326F5C33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45DC0A-B66F-6DCA-3F44-7F35AEB93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76022-A533-265C-D096-20A6C0789D4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9746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AF87-6673-D313-9EC0-007C763B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8A164C-FA11-799E-83B7-19BF0215C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823966-20BA-3AF3-1F7F-7324954BF65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9375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F2996-BB97-25AE-5630-C8CA2078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5044D6-F774-822C-A214-5F32308FF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9C7B62-6FE4-84FB-0D1A-7311698E011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56529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1D2E-1969-B948-7F3A-847500AB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D3DB41-59A1-250D-A94C-101BAEF98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34BA40-B8DC-A8A7-210E-A7E399080C0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49261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E5CD-5A72-58B5-AEC2-9F00AC34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BA4025-D4EA-064A-07EB-095112E93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0C24D-3719-19F7-7FB5-16D76E48FBF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3763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AD28-6B43-C2F2-2A61-78B86A88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CE2347-39F2-0244-4C2E-33C13B880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66ABDA-43CD-0BB9-737E-807C7E9B85F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3790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36E40-89AD-5B0E-FF9B-D142E03D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601099-7BEE-D651-0507-1FE0B5B1B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A65667-8967-0B07-AE36-4BE8AC4228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6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B115-6C6D-8C48-BD5C-B41B7814D6C0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A23C4-259D-7241-8C67-2E3DE24F0B63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7534-7483-AF44-912B-96AB9A0BE9F0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336C-6805-674D-B201-9695C779A419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9954-D5E1-6B41-A4EE-A8069FBBF7CF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D6D-AAF6-B641-AA2C-27764744960C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906A6-6342-3545-95E0-3F439D06C1A8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F199C-2B2F-D04A-AB1C-28518ACF34D8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EFE3-44FC-564B-9A8E-873FB9948E2F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F84DE-0DE2-2542-B759-EE2AE575A138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4C41-8F11-5F4D-AF0B-4113FEEB3597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E6083-6F6E-2C4B-8C6E-915F13329ED6}" type="datetime1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8919" y="2103437"/>
            <a:ext cx="780231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On</a:t>
            </a:r>
            <a:r>
              <a:rPr lang="zh-CN" altLang="en-US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the</a:t>
            </a:r>
            <a:r>
              <a:rPr lang="zh-CN" altLang="en-US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Coordination</a:t>
            </a:r>
            <a:r>
              <a:rPr lang="zh-CN" altLang="en-US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of</a:t>
            </a:r>
            <a:r>
              <a:rPr lang="zh-CN" altLang="en-US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Value-Maximizing</a:t>
            </a:r>
            <a:r>
              <a:rPr lang="zh-CN" altLang="en-US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Bidders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DA281B-3DB7-7CE5-473A-ADDBD90D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F8BA9A-B71D-5051-EEF8-C32E0022E9B2}"/>
              </a:ext>
            </a:extLst>
          </p:cNvPr>
          <p:cNvSpPr txBox="1"/>
          <p:nvPr/>
        </p:nvSpPr>
        <p:spPr>
          <a:xfrm>
            <a:off x="1244439" y="3865499"/>
            <a:ext cx="1991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900" u="sng" dirty="0">
                <a:latin typeface="Georgia" panose="02040502050405020303" pitchFamily="18" charset="0"/>
              </a:rPr>
              <a:t>Yanru Guan</a:t>
            </a:r>
          </a:p>
          <a:p>
            <a:pPr algn="ctr"/>
            <a:r>
              <a:rPr lang="en-US" altLang="zh-CN" sz="1600" dirty="0">
                <a:latin typeface="Georgia" panose="02040502050405020303" pitchFamily="18" charset="0"/>
              </a:rPr>
              <a:t>Peking University</a:t>
            </a:r>
            <a:endParaRPr lang="zh-CN" alt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DBA3E3-B13E-8386-EF48-9651B7C7322A}"/>
              </a:ext>
            </a:extLst>
          </p:cNvPr>
          <p:cNvSpPr txBox="1"/>
          <p:nvPr/>
        </p:nvSpPr>
        <p:spPr>
          <a:xfrm>
            <a:off x="3743143" y="3859644"/>
            <a:ext cx="2256931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900" dirty="0">
                <a:latin typeface="Georgia" panose="02040502050405020303" pitchFamily="18" charset="0"/>
              </a:rPr>
              <a:t>Jiahao</a:t>
            </a:r>
            <a:r>
              <a:rPr lang="zh-CN" altLang="en-US" sz="1900" dirty="0">
                <a:latin typeface="Georgia" panose="02040502050405020303" pitchFamily="18" charset="0"/>
              </a:rPr>
              <a:t> </a:t>
            </a:r>
            <a:r>
              <a:rPr lang="en-US" altLang="zh-CN" sz="1900" dirty="0">
                <a:latin typeface="Georgia" panose="02040502050405020303" pitchFamily="18" charset="0"/>
              </a:rPr>
              <a:t>Zhang</a:t>
            </a:r>
          </a:p>
          <a:p>
            <a:pPr algn="ctr"/>
            <a:r>
              <a:rPr lang="en-US" altLang="zh-CN" sz="1600" dirty="0">
                <a:latin typeface="Georgia" panose="02040502050405020303" pitchFamily="18" charset="0"/>
              </a:rPr>
              <a:t>Carnegie</a:t>
            </a:r>
            <a:r>
              <a:rPr lang="zh-CN" altLang="en-US" sz="1600" dirty="0">
                <a:latin typeface="Georgia" panose="02040502050405020303" pitchFamily="18" charset="0"/>
              </a:rPr>
              <a:t> </a:t>
            </a:r>
            <a:r>
              <a:rPr lang="en-US" altLang="zh-CN" sz="1600" dirty="0">
                <a:latin typeface="Georgia" panose="02040502050405020303" pitchFamily="18" charset="0"/>
              </a:rPr>
              <a:t>Mellon</a:t>
            </a:r>
            <a:r>
              <a:rPr lang="zh-CN" altLang="en-US" sz="1600" dirty="0">
                <a:latin typeface="Georgia" panose="02040502050405020303" pitchFamily="18" charset="0"/>
              </a:rPr>
              <a:t> </a:t>
            </a:r>
            <a:r>
              <a:rPr lang="en-US" altLang="zh-CN" sz="1600" dirty="0">
                <a:latin typeface="Georgia" panose="02040502050405020303" pitchFamily="18" charset="0"/>
              </a:rPr>
              <a:t>University</a:t>
            </a:r>
            <a:endParaRPr lang="zh-CN" alt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43F3AB-CBB5-15D1-A7C6-0C67A9A2B395}"/>
              </a:ext>
            </a:extLst>
          </p:cNvPr>
          <p:cNvSpPr txBox="1"/>
          <p:nvPr/>
        </p:nvSpPr>
        <p:spPr>
          <a:xfrm>
            <a:off x="6507688" y="3880888"/>
            <a:ext cx="225693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900" dirty="0">
                <a:latin typeface="Georgia" panose="02040502050405020303" pitchFamily="18" charset="0"/>
              </a:rPr>
              <a:t>Zhe</a:t>
            </a:r>
            <a:r>
              <a:rPr lang="zh-CN" altLang="en-US" sz="1900" dirty="0">
                <a:latin typeface="Georgia" panose="02040502050405020303" pitchFamily="18" charset="0"/>
              </a:rPr>
              <a:t> </a:t>
            </a:r>
            <a:r>
              <a:rPr lang="en-US" altLang="zh-CN" sz="1900" dirty="0">
                <a:latin typeface="Georgia" panose="02040502050405020303" pitchFamily="18" charset="0"/>
              </a:rPr>
              <a:t>Feng</a:t>
            </a:r>
          </a:p>
          <a:p>
            <a:pPr algn="ctr"/>
            <a:r>
              <a:rPr lang="en-US" altLang="zh-CN" sz="1600" dirty="0">
                <a:latin typeface="Georgia" panose="02040502050405020303" pitchFamily="18" charset="0"/>
              </a:rPr>
              <a:t>Google</a:t>
            </a:r>
            <a:r>
              <a:rPr lang="zh-CN" altLang="en-US" sz="1600" dirty="0">
                <a:latin typeface="Georgia" panose="02040502050405020303" pitchFamily="18" charset="0"/>
              </a:rPr>
              <a:t> </a:t>
            </a:r>
            <a:r>
              <a:rPr lang="en-US" altLang="zh-CN" sz="1600" dirty="0">
                <a:latin typeface="Georgia" panose="02040502050405020303" pitchFamily="18" charset="0"/>
              </a:rPr>
              <a:t>DeepMind</a:t>
            </a:r>
            <a:endParaRPr lang="zh-CN" alt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DE2102-2CC3-680D-8EB9-38FAEB815672}"/>
              </a:ext>
            </a:extLst>
          </p:cNvPr>
          <p:cNvSpPr txBox="1"/>
          <p:nvPr/>
        </p:nvSpPr>
        <p:spPr>
          <a:xfrm>
            <a:off x="9272233" y="3880888"/>
            <a:ext cx="1887189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900" dirty="0">
                <a:latin typeface="Georgia" panose="02040502050405020303" pitchFamily="18" charset="0"/>
              </a:rPr>
              <a:t>Tao</a:t>
            </a:r>
            <a:r>
              <a:rPr lang="zh-CN" altLang="en-US" sz="1900" dirty="0">
                <a:latin typeface="Georgia" panose="02040502050405020303" pitchFamily="18" charset="0"/>
              </a:rPr>
              <a:t> </a:t>
            </a:r>
            <a:r>
              <a:rPr lang="en-US" altLang="zh-CN" sz="1900" dirty="0">
                <a:latin typeface="Georgia" panose="02040502050405020303" pitchFamily="18" charset="0"/>
              </a:rPr>
              <a:t>Lin</a:t>
            </a:r>
          </a:p>
          <a:p>
            <a:pPr algn="ctr"/>
            <a:r>
              <a:rPr lang="en-US" altLang="zh-CN" sz="1600" dirty="0">
                <a:latin typeface="Georgia" panose="02040502050405020303" pitchFamily="18" charset="0"/>
              </a:rPr>
              <a:t>Microsoft</a:t>
            </a:r>
            <a:r>
              <a:rPr lang="zh-CN" altLang="en-US" sz="1600" dirty="0">
                <a:latin typeface="Georgia" panose="02040502050405020303" pitchFamily="18" charset="0"/>
              </a:rPr>
              <a:t> </a:t>
            </a:r>
            <a:r>
              <a:rPr lang="en-US" altLang="zh-CN" sz="1600" dirty="0">
                <a:latin typeface="Georgia" panose="02040502050405020303" pitchFamily="18" charset="0"/>
              </a:rPr>
              <a:t>&amp;</a:t>
            </a:r>
            <a:r>
              <a:rPr lang="zh-CN" altLang="en-US" sz="1600" dirty="0">
                <a:latin typeface="Georgia" panose="02040502050405020303" pitchFamily="18" charset="0"/>
              </a:rPr>
              <a:t> </a:t>
            </a:r>
            <a:r>
              <a:rPr lang="en-US" altLang="zh-CN" sz="1600" dirty="0">
                <a:latin typeface="Georgia" panose="02040502050405020303" pitchFamily="18" charset="0"/>
              </a:rPr>
              <a:t>CUHK-Shenzhen</a:t>
            </a:r>
            <a:endParaRPr lang="zh-CN" altLang="en-US" sz="1600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D1ED5BE-DA6D-1AA7-97EA-A6B0FDB13084}"/>
                  </a:ext>
                </a:extLst>
              </p:cNvPr>
              <p:cNvSpPr txBox="1"/>
              <p:nvPr/>
            </p:nvSpPr>
            <p:spPr>
              <a:xfrm>
                <a:off x="3277717" y="6167785"/>
                <a:ext cx="56365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Georgia" panose="02040502050405020303" pitchFamily="18" charset="0"/>
                  </a:rPr>
                  <a:t>the Eleventh Marketplace Innovation Workshop (MIW </a:t>
                </a:r>
                <a14:m>
                  <m:oMath xmlns:m="http://schemas.openxmlformats.org/officeDocument/2006/math">
                    <m:r>
                      <a:rPr lang="en-US" altLang="zh-CN" sz="1600" dirty="0" smtClean="0">
                        <a:latin typeface="Cambria Math" panose="02040503050406030204" pitchFamily="18" charset="0"/>
                      </a:rPr>
                      <m:t>2026</m:t>
                    </m:r>
                  </m:oMath>
                </a14:m>
                <a:r>
                  <a:rPr lang="en-US" altLang="zh-CN" sz="1600" dirty="0">
                    <a:latin typeface="Georgia" panose="02040502050405020303" pitchFamily="18" charset="0"/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dirty="0" smtClean="0">
                          <a:latin typeface="Cambria Math" panose="02040503050406030204" pitchFamily="18" charset="0"/>
                        </a:rPr>
                        <m:t>2026</m:t>
                      </m:r>
                      <m:r>
                        <a:rPr lang="en-US" altLang="zh-CN" sz="1600" i="0" dirty="0" smtClean="0">
                          <a:latin typeface="Cambria Math" panose="02040503050406030204" pitchFamily="18" charset="0"/>
                        </a:rPr>
                        <m:t>/5/19</m:t>
                      </m:r>
                    </m:oMath>
                  </m:oMathPara>
                </a14:m>
                <a:endParaRPr lang="zh-CN" altLang="en-US" sz="16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D1ED5BE-DA6D-1AA7-97EA-A6B0FDB13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717" y="6167785"/>
                <a:ext cx="5636566" cy="584775"/>
              </a:xfrm>
              <a:prstGeom prst="rect">
                <a:avLst/>
              </a:prstGeom>
              <a:blipFill>
                <a:blip r:embed="rId3"/>
                <a:stretch>
                  <a:fillRect l="-1351" t="-2128" r="-1351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C897-A804-26DB-114E-4684646D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405B6-D86B-A0A8-C401-A555F0C2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28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Online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Ad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Campaign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23E6F3B8-21C1-0434-A122-41C2DD68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1CBB92-C6FA-D91C-2CB2-3786D1532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828"/>
          <a:stretch>
            <a:fillRect/>
          </a:stretch>
        </p:blipFill>
        <p:spPr>
          <a:xfrm>
            <a:off x="838200" y="1690688"/>
            <a:ext cx="6868886" cy="47189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F17696A-06B0-E0FD-A2B0-4D9AA8343FD1}"/>
              </a:ext>
            </a:extLst>
          </p:cNvPr>
          <p:cNvSpPr txBox="1"/>
          <p:nvPr/>
        </p:nvSpPr>
        <p:spPr>
          <a:xfrm>
            <a:off x="3618016" y="2553194"/>
            <a:ext cx="4587834" cy="5509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3580"/>
              </a:lnSpc>
            </a:pPr>
            <a:r>
              <a:rPr lang="en-US" altLang="zh-CN" sz="2000" dirty="0">
                <a:latin typeface="Georgia" panose="02040502050405020303" pitchFamily="18" charset="0"/>
              </a:rPr>
              <a:t>Sponsored</a:t>
            </a:r>
            <a:r>
              <a:rPr lang="zh-CN" altLang="en-US" sz="2000" dirty="0">
                <a:latin typeface="Georgia" panose="02040502050405020303" pitchFamily="18" charset="0"/>
              </a:rPr>
              <a:t> </a:t>
            </a:r>
            <a:r>
              <a:rPr lang="en-US" altLang="zh-CN" sz="2000" dirty="0">
                <a:latin typeface="Georgia" panose="02040502050405020303" pitchFamily="18" charset="0"/>
              </a:rPr>
              <a:t>results</a:t>
            </a:r>
            <a:r>
              <a:rPr lang="zh-CN" altLang="en-US" sz="2000" dirty="0">
                <a:latin typeface="Georgia" panose="02040502050405020303" pitchFamily="18" charset="0"/>
              </a:rPr>
              <a:t> </a:t>
            </a:r>
            <a:r>
              <a:rPr lang="en-US" altLang="zh-CN" sz="2000" dirty="0">
                <a:latin typeface="Georgia" panose="02040502050405020303" pitchFamily="18" charset="0"/>
              </a:rPr>
              <a:t>are</a:t>
            </a:r>
            <a:r>
              <a:rPr lang="zh-CN" altLang="en-US" sz="2000" dirty="0">
                <a:latin typeface="Georgia" panose="02040502050405020303" pitchFamily="18" charset="0"/>
              </a:rPr>
              <a:t> </a:t>
            </a:r>
            <a:r>
              <a:rPr lang="en-US" altLang="zh-CN" sz="2000" dirty="0">
                <a:latin typeface="Georgia" panose="02040502050405020303" pitchFamily="18" charset="0"/>
              </a:rPr>
              <a:t>auction</a:t>
            </a:r>
            <a:r>
              <a:rPr lang="zh-CN" altLang="en-US" sz="2000" dirty="0">
                <a:latin typeface="Georgia" panose="02040502050405020303" pitchFamily="18" charset="0"/>
              </a:rPr>
              <a:t> </a:t>
            </a:r>
            <a:r>
              <a:rPr lang="en-US" altLang="zh-CN" sz="2000" dirty="0">
                <a:latin typeface="Georgia" panose="02040502050405020303" pitchFamily="18" charset="0"/>
              </a:rPr>
              <a:t>winners</a:t>
            </a:r>
            <a:endParaRPr lang="en-US" altLang="zh-C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22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5FB1-E7C7-B61C-992C-080E697D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C6BEC-8854-FCB0-97FD-DAC7F258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28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Online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Ad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Campaign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9AD46ED1-6ED2-82CD-7E47-225E3035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32BDEDE7-B91F-A209-E88E-DBDF852D6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6521732" cy="110514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B2B3A06-F831-2DA8-F8FE-4A44F1C7E2EF}"/>
              </a:ext>
            </a:extLst>
          </p:cNvPr>
          <p:cNvSpPr txBox="1"/>
          <p:nvPr/>
        </p:nvSpPr>
        <p:spPr>
          <a:xfrm>
            <a:off x="838200" y="3031747"/>
            <a:ext cx="9362705" cy="188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80"/>
              </a:lnSpc>
            </a:pPr>
            <a:r>
              <a:rPr lang="en-US" altLang="zh-CN" sz="2500" dirty="0">
                <a:latin typeface="Georgia" panose="02040502050405020303" pitchFamily="18" charset="0"/>
              </a:rPr>
              <a:t>Auto-bidding:</a:t>
            </a:r>
            <a:endParaRPr lang="en-US" altLang="zh-CN" sz="2200" dirty="0">
              <a:latin typeface="Georgia" panose="02040502050405020303" pitchFamily="18" charset="0"/>
            </a:endParaRPr>
          </a:p>
          <a:p>
            <a:pPr marL="342900" indent="-342900">
              <a:lnSpc>
                <a:spcPts val="3580"/>
              </a:lnSpc>
              <a:buFont typeface="Arial" panose="020B0604020202020204" pitchFamily="34" charset="0"/>
              <a:buChar char="•"/>
            </a:pPr>
            <a:r>
              <a:rPr lang="en-US" altLang="zh-CN" sz="2200" b="0" dirty="0">
                <a:latin typeface="Georgia" panose="02040502050405020303" pitchFamily="18" charset="0"/>
              </a:rPr>
              <a:t>The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advertiser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submits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the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goal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and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constraints</a:t>
            </a:r>
          </a:p>
          <a:p>
            <a:pPr marL="342900" indent="-342900">
              <a:lnSpc>
                <a:spcPts val="358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Georgia" panose="02040502050405020303" pitchFamily="18" charset="0"/>
              </a:rPr>
              <a:t>The delegated bidding agent runs an algorithm 𝐴 for the advertiser</a:t>
            </a:r>
          </a:p>
          <a:p>
            <a:pPr marL="342900" indent="-342900">
              <a:lnSpc>
                <a:spcPts val="358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Georgia" panose="02040502050405020303" pitchFamily="18" charset="0"/>
              </a:rPr>
              <a:t>How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to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bid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over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repeated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auctions?</a:t>
            </a:r>
          </a:p>
        </p:txBody>
      </p:sp>
    </p:spTree>
    <p:extLst>
      <p:ext uri="{BB962C8B-B14F-4D97-AF65-F5344CB8AC3E}">
        <p14:creationId xmlns:p14="http://schemas.microsoft.com/office/powerpoint/2010/main" val="239341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F1C2B-7281-2191-0CF6-782B29CA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37AD3-9FD1-19C7-15E0-F85A0BD0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28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Online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Ad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Campaign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B6298F7F-2CC2-62D3-11F5-2776038A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76BB3E3-2983-AABE-5D22-C19A261DD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6521732" cy="110514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6B73EE9-74C6-1991-6BB5-EE41003EFB2F}"/>
              </a:ext>
            </a:extLst>
          </p:cNvPr>
          <p:cNvSpPr txBox="1"/>
          <p:nvPr/>
        </p:nvSpPr>
        <p:spPr>
          <a:xfrm>
            <a:off x="838200" y="3031747"/>
            <a:ext cx="9362705" cy="188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80"/>
              </a:lnSpc>
            </a:pPr>
            <a:r>
              <a:rPr lang="en-US" altLang="zh-CN" sz="2500" dirty="0">
                <a:latin typeface="Georgia" panose="02040502050405020303" pitchFamily="18" charset="0"/>
              </a:rPr>
              <a:t>Auto-bidding:</a:t>
            </a:r>
            <a:endParaRPr lang="en-US" altLang="zh-CN" sz="2200" dirty="0">
              <a:latin typeface="Georgia" panose="02040502050405020303" pitchFamily="18" charset="0"/>
            </a:endParaRPr>
          </a:p>
          <a:p>
            <a:pPr marL="342900" indent="-342900">
              <a:lnSpc>
                <a:spcPts val="3580"/>
              </a:lnSpc>
              <a:buFont typeface="Arial" panose="020B0604020202020204" pitchFamily="34" charset="0"/>
              <a:buChar char="•"/>
            </a:pPr>
            <a:r>
              <a:rPr lang="en-US" altLang="zh-CN" sz="2200" b="0" dirty="0">
                <a:latin typeface="Georgia" panose="02040502050405020303" pitchFamily="18" charset="0"/>
              </a:rPr>
              <a:t>The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advertiser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submits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the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goal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and</a:t>
            </a:r>
            <a:r>
              <a:rPr lang="zh-CN" altLang="en-US" sz="2200" b="0" dirty="0">
                <a:latin typeface="Georgia" panose="02040502050405020303" pitchFamily="18" charset="0"/>
              </a:rPr>
              <a:t> </a:t>
            </a:r>
            <a:r>
              <a:rPr lang="en-US" altLang="zh-CN" sz="2200" b="0" dirty="0">
                <a:latin typeface="Georgia" panose="02040502050405020303" pitchFamily="18" charset="0"/>
              </a:rPr>
              <a:t>constraints</a:t>
            </a:r>
          </a:p>
          <a:p>
            <a:pPr marL="342900" indent="-342900">
              <a:lnSpc>
                <a:spcPts val="358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Georgia" panose="02040502050405020303" pitchFamily="18" charset="0"/>
              </a:rPr>
              <a:t>The delegated bidding agent runs an algorithm 𝐴 for the advertiser</a:t>
            </a:r>
          </a:p>
          <a:p>
            <a:pPr marL="342900" indent="-342900">
              <a:lnSpc>
                <a:spcPts val="358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Georgia" panose="02040502050405020303" pitchFamily="18" charset="0"/>
              </a:rPr>
              <a:t>How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to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bid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over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repeated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auctions?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0B7C68-4208-56E4-CD3E-15822ABC2A55}"/>
              </a:ext>
            </a:extLst>
          </p:cNvPr>
          <p:cNvSpPr txBox="1"/>
          <p:nvPr/>
        </p:nvSpPr>
        <p:spPr>
          <a:xfrm>
            <a:off x="3073731" y="5274190"/>
            <a:ext cx="1959428" cy="557458"/>
          </a:xfrm>
          <a:prstGeom prst="roundRect">
            <a:avLst/>
          </a:prstGeom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altLang="zh-CN" sz="2200" dirty="0">
                <a:latin typeface="Georgia" panose="02040502050405020303" pitchFamily="18" charset="0"/>
              </a:rPr>
              <a:t>Independent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BE2870-8612-3D08-5F17-3BC0650EA446}"/>
              </a:ext>
            </a:extLst>
          </p:cNvPr>
          <p:cNvSpPr txBox="1"/>
          <p:nvPr/>
        </p:nvSpPr>
        <p:spPr>
          <a:xfrm>
            <a:off x="7158842" y="5274190"/>
            <a:ext cx="2317667" cy="557529"/>
          </a:xfrm>
          <a:prstGeom prst="roundRect">
            <a:avLst/>
          </a:prstGeom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altLang="zh-CN" sz="2200" b="1" dirty="0">
                <a:latin typeface="Georgia" panose="02040502050405020303" pitchFamily="18" charset="0"/>
              </a:rPr>
              <a:t>Coordination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2E3F17-F469-A2ED-6135-0E2B565E1063}"/>
              </a:ext>
            </a:extLst>
          </p:cNvPr>
          <p:cNvSpPr txBox="1"/>
          <p:nvPr/>
        </p:nvSpPr>
        <p:spPr>
          <a:xfrm>
            <a:off x="2914850" y="5212469"/>
            <a:ext cx="2277190" cy="746522"/>
          </a:xfrm>
          <a:prstGeom prst="roundRect">
            <a:avLst>
              <a:gd name="adj" fmla="val 30629"/>
            </a:avLst>
          </a:prstGeom>
          <a:solidFill>
            <a:srgbClr val="D9F2D0">
              <a:alpha val="12157"/>
            </a:srgb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16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7FA9B2-719F-B502-0573-BFD81BD99CFF}"/>
              </a:ext>
            </a:extLst>
          </p:cNvPr>
          <p:cNvSpPr txBox="1"/>
          <p:nvPr/>
        </p:nvSpPr>
        <p:spPr>
          <a:xfrm>
            <a:off x="7047462" y="5225890"/>
            <a:ext cx="2476547" cy="704850"/>
          </a:xfrm>
          <a:prstGeom prst="roundRect">
            <a:avLst>
              <a:gd name="adj" fmla="val 22690"/>
            </a:avLst>
          </a:prstGeom>
          <a:solidFill>
            <a:srgbClr val="BEE2F2">
              <a:alpha val="7059"/>
            </a:srgbClr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8FF69D-76A7-D59C-61CB-C9ECF3857AF1}"/>
              </a:ext>
            </a:extLst>
          </p:cNvPr>
          <p:cNvSpPr txBox="1"/>
          <p:nvPr/>
        </p:nvSpPr>
        <p:spPr>
          <a:xfrm>
            <a:off x="3321133" y="5893369"/>
            <a:ext cx="2557154" cy="491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80"/>
              </a:lnSpc>
            </a:pPr>
            <a:r>
              <a:rPr lang="en-US" altLang="zh-CN" dirty="0">
                <a:latin typeface="Georgia" panose="02040502050405020303" pitchFamily="18" charset="0"/>
              </a:rPr>
              <a:t>existing</a:t>
            </a:r>
            <a:r>
              <a:rPr lang="zh-CN" altLang="en-US" dirty="0">
                <a:latin typeface="Georgia" panose="02040502050405020303" pitchFamily="18" charset="0"/>
              </a:rPr>
              <a:t> </a:t>
            </a:r>
            <a:r>
              <a:rPr lang="en-US" altLang="zh-CN" dirty="0">
                <a:latin typeface="Georgia" panose="02040502050405020303" pitchFamily="18" charset="0"/>
              </a:rPr>
              <a:t>work</a:t>
            </a:r>
            <a:endParaRPr lang="en-US" altLang="zh-CN" sz="1600" dirty="0">
              <a:latin typeface="Georgia" panose="0204050205040502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949175-AC36-F257-4AB5-29AC6BB59D0D}"/>
              </a:ext>
            </a:extLst>
          </p:cNvPr>
          <p:cNvSpPr txBox="1"/>
          <p:nvPr/>
        </p:nvSpPr>
        <p:spPr>
          <a:xfrm>
            <a:off x="8137565" y="5864356"/>
            <a:ext cx="602673" cy="491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80"/>
              </a:lnSpc>
            </a:pPr>
            <a:r>
              <a:rPr lang="en-US" altLang="zh-CN" dirty="0">
                <a:latin typeface="Georgia" panose="02040502050405020303" pitchFamily="18" charset="0"/>
              </a:rPr>
              <a:t>?</a:t>
            </a:r>
            <a:endParaRPr lang="en-US" altLang="zh-CN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38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C264-155E-7BA5-0FB8-7417F5D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38E99-DFC3-64F6-C545-5AC04FE2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28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Model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09257CDA-A598-4677-E12A-7743942B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007664B-43B1-A730-5802-DDD2B680B0B5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9362705" cy="2367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5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Georgia" panose="02040502050405020303" pitchFamily="18" charset="0"/>
                  </a:rPr>
                  <a:t>Repeated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second-price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auction,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Georgia" panose="02040502050405020303" pitchFamily="18" charset="0"/>
                  </a:rPr>
                  <a:t>rounds</a:t>
                </a:r>
              </a:p>
              <a:p>
                <a:pPr marL="342900" indent="-342900">
                  <a:lnSpc>
                    <a:spcPts val="35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0" dirty="0">
                    <a:latin typeface="Georgia" panose="02040502050405020303" pitchFamily="18" charset="0"/>
                  </a:rPr>
                  <a:t>Goal:</a:t>
                </a:r>
                <a:r>
                  <a:rPr lang="zh-CN" altLang="en-US" sz="2200" b="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b="0" dirty="0">
                    <a:latin typeface="Georgia" panose="02040502050405020303" pitchFamily="18" charset="0"/>
                  </a:rPr>
                  <a:t>maximize</a:t>
                </a:r>
                <a:r>
                  <a:rPr lang="zh-CN" altLang="en-US" sz="2200" b="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b="0" dirty="0">
                    <a:latin typeface="Georgia" panose="02040502050405020303" pitchFamily="18" charset="0"/>
                  </a:rPr>
                  <a:t>realized</a:t>
                </a:r>
                <a:r>
                  <a:rPr lang="zh-CN" altLang="en-US" sz="2200" b="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b="0" dirty="0">
                    <a:latin typeface="Georgia" panose="02040502050405020303" pitchFamily="18" charset="0"/>
                  </a:rPr>
                  <a:t>value</a:t>
                </a:r>
              </a:p>
              <a:p>
                <a:pPr marL="342900" indent="-342900">
                  <a:lnSpc>
                    <a:spcPts val="35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Georgia" panose="02040502050405020303" pitchFamily="18" charset="0"/>
                  </a:rPr>
                  <a:t>Return-on-Spend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(</a:t>
                </a:r>
                <a:r>
                  <a:rPr lang="en-US" altLang="zh-CN" sz="2200" dirty="0" err="1">
                    <a:latin typeface="Georgia" panose="02040502050405020303" pitchFamily="18" charset="0"/>
                  </a:rPr>
                  <a:t>RoS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)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constraint</a:t>
                </a:r>
              </a:p>
              <a:p>
                <a:pPr marL="800100" lvl="1" indent="-342900">
                  <a:lnSpc>
                    <a:spcPts val="35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900" dirty="0" err="1">
                    <a:latin typeface="Georgia" panose="02040502050405020303" pitchFamily="18" charset="0"/>
                  </a:rPr>
                  <a:t>RoS</a:t>
                </a:r>
                <a:r>
                  <a:rPr lang="zh-CN" altLang="en-US" sz="19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900" dirty="0">
                    <a:latin typeface="Georgia" panose="02040502050405020303" pitchFamily="18" charset="0"/>
                  </a:rPr>
                  <a:t>target</a:t>
                </a:r>
                <a:r>
                  <a:rPr lang="zh-CN" altLang="en-US" sz="19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900" dirty="0">
                    <a:latin typeface="Georgia" panose="02040502050405020303" pitchFamily="18" charset="0"/>
                  </a:rPr>
                  <a:t>ratio</a:t>
                </a:r>
                <a:r>
                  <a:rPr lang="zh-CN" altLang="en-US" sz="19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900" dirty="0">
                    <a:latin typeface="Georgia" panose="02040502050405020303" pitchFamily="18" charset="0"/>
                  </a:rPr>
                  <a:t>is</a:t>
                </a:r>
                <a:r>
                  <a:rPr lang="zh-CN" altLang="en-US" sz="19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900" dirty="0">
                    <a:latin typeface="Georgia" panose="02040502050405020303" pitchFamily="18" charset="0"/>
                  </a:rPr>
                  <a:t>normalized</a:t>
                </a:r>
                <a:r>
                  <a:rPr lang="zh-CN" altLang="en-US" sz="19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900" dirty="0">
                    <a:latin typeface="Georgia" panose="02040502050405020303" pitchFamily="18" charset="0"/>
                  </a:rPr>
                  <a:t>to</a:t>
                </a:r>
                <a:r>
                  <a:rPr lang="zh-CN" altLang="en-US" sz="19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9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1900" dirty="0">
                  <a:latin typeface="Georgia" panose="02040502050405020303" pitchFamily="18" charset="0"/>
                </a:endParaRPr>
              </a:p>
              <a:p>
                <a:pPr marL="342900" indent="-342900">
                  <a:lnSpc>
                    <a:spcPts val="358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Georgia" panose="02040502050405020303" pitchFamily="18" charset="0"/>
                  </a:rPr>
                  <a:t>bidders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against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outside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200" dirty="0">
                    <a:latin typeface="Georgia" panose="02040502050405020303" pitchFamily="18" charset="0"/>
                  </a:rPr>
                  <a:t>bid</a:t>
                </a:r>
                <a:r>
                  <a:rPr lang="zh-CN" altLang="en-US" sz="22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zh-CN" sz="2200" b="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007664B-43B1-A730-5802-DDD2B680B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9362705" cy="2367508"/>
              </a:xfrm>
              <a:prstGeom prst="rect">
                <a:avLst/>
              </a:prstGeom>
              <a:blipFill>
                <a:blip r:embed="rId3"/>
                <a:stretch>
                  <a:fillRect l="-813"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5">
            <a:extLst>
              <a:ext uri="{FF2B5EF4-FFF2-40B4-BE49-F238E27FC236}">
                <a16:creationId xmlns:a16="http://schemas.microsoft.com/office/drawing/2014/main" id="{47DA3A3F-28AD-8FC9-47F7-BFD309D88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140" y="4257349"/>
            <a:ext cx="7022400" cy="189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4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0043-5F14-1C4C-4355-63F3B77F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2EE10636-231E-A29F-19B2-F439E8950DBE}"/>
              </a:ext>
            </a:extLst>
          </p:cNvPr>
          <p:cNvSpPr txBox="1"/>
          <p:nvPr/>
        </p:nvSpPr>
        <p:spPr>
          <a:xfrm>
            <a:off x="799297" y="2840523"/>
            <a:ext cx="4740736" cy="3351848"/>
          </a:xfrm>
          <a:prstGeom prst="roundRect">
            <a:avLst>
              <a:gd name="adj" fmla="val 7633"/>
            </a:avLst>
          </a:prstGeom>
          <a:solidFill>
            <a:srgbClr val="D9F2D0">
              <a:alpha val="12157"/>
            </a:srgb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ADEB34-91F6-B761-487F-16FD7F4EDD6A}"/>
              </a:ext>
            </a:extLst>
          </p:cNvPr>
          <p:cNvSpPr txBox="1"/>
          <p:nvPr/>
        </p:nvSpPr>
        <p:spPr>
          <a:xfrm>
            <a:off x="5905500" y="2805176"/>
            <a:ext cx="5559767" cy="3387923"/>
          </a:xfrm>
          <a:prstGeom prst="roundRect">
            <a:avLst>
              <a:gd name="adj" fmla="val 7968"/>
            </a:avLst>
          </a:prstGeom>
          <a:solidFill>
            <a:srgbClr val="BEE2F2">
              <a:alpha val="7059"/>
            </a:srgbClr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endParaRPr lang="en-US" sz="1700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C5D5A6F-0971-26A1-A37E-90657B20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28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Auto-bidder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Coordination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CB093E74-48BA-3C24-3FB6-CA9276BF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787638-3349-25BA-F403-794DB2AC22C0}"/>
                  </a:ext>
                </a:extLst>
              </p:cNvPr>
              <p:cNvSpPr txBox="1"/>
              <p:nvPr/>
            </p:nvSpPr>
            <p:spPr>
              <a:xfrm>
                <a:off x="800100" y="1587999"/>
                <a:ext cx="10718800" cy="1004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6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100" dirty="0">
                    <a:latin typeface="Georgia" panose="02040502050405020303" pitchFamily="18" charset="0"/>
                  </a:rPr>
                  <a:t>In practice, multiple bidders are often managed by the same platform or advertiser.</a:t>
                </a:r>
              </a:p>
              <a:p>
                <a:pPr marL="342900" indent="-342900">
                  <a:lnSpc>
                    <a:spcPts val="36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100" dirty="0">
                    <a:latin typeface="Georgia" panose="02040502050405020303" pitchFamily="18" charset="0"/>
                  </a:rPr>
                  <a:t>Compare:</a:t>
                </a:r>
                <a:r>
                  <a:rPr lang="zh-CN" altLang="en-US" sz="21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100" dirty="0">
                    <a:latin typeface="Georgia" panose="02040502050405020303" pitchFamily="18" charset="0"/>
                  </a:rPr>
                  <a:t>whether</a:t>
                </a:r>
                <a:r>
                  <a:rPr lang="zh-CN" altLang="en-US" sz="21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1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2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100" dirty="0">
                    <a:latin typeface="Georgia" panose="02040502050405020303" pitchFamily="18" charset="0"/>
                  </a:rPr>
                  <a:t>bidders</a:t>
                </a:r>
                <a:r>
                  <a:rPr lang="zh-CN" altLang="en-US" sz="21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100" dirty="0">
                    <a:latin typeface="Georgia" panose="02040502050405020303" pitchFamily="18" charset="0"/>
                  </a:rPr>
                  <a:t>form</a:t>
                </a:r>
                <a:r>
                  <a:rPr lang="zh-CN" altLang="en-US" sz="21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100" dirty="0">
                    <a:latin typeface="Georgia" panose="02040502050405020303" pitchFamily="18" charset="0"/>
                  </a:rPr>
                  <a:t>a</a:t>
                </a:r>
                <a:r>
                  <a:rPr lang="zh-CN" altLang="en-US" sz="21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100" dirty="0">
                    <a:latin typeface="Georgia" panose="02040502050405020303" pitchFamily="18" charset="0"/>
                  </a:rPr>
                  <a:t>coalition</a:t>
                </a:r>
                <a:r>
                  <a:rPr lang="zh-CN" altLang="en-US" sz="21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100" dirty="0">
                    <a:latin typeface="Georgia" panose="02040502050405020303" pitchFamily="18" charset="0"/>
                  </a:rPr>
                  <a:t>or</a:t>
                </a:r>
                <a:r>
                  <a:rPr lang="zh-CN" altLang="en-US" sz="21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100" dirty="0">
                    <a:latin typeface="Georgia" panose="02040502050405020303" pitchFamily="18" charset="0"/>
                  </a:rPr>
                  <a:t>not.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787638-3349-25BA-F403-794DB2AC2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1587999"/>
                <a:ext cx="10718800" cy="1004955"/>
              </a:xfrm>
              <a:prstGeom prst="rect">
                <a:avLst/>
              </a:prstGeom>
              <a:blipFill>
                <a:blip r:embed="rId3"/>
                <a:stretch>
                  <a:fillRect l="-473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87A18074-DB5F-68D0-DD34-D075A6D4A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900" y="3513622"/>
            <a:ext cx="4661900" cy="243863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A4D968-D2BF-19A6-3036-4FBF44E50198}"/>
              </a:ext>
            </a:extLst>
          </p:cNvPr>
          <p:cNvSpPr txBox="1"/>
          <p:nvPr/>
        </p:nvSpPr>
        <p:spPr>
          <a:xfrm>
            <a:off x="7675658" y="2829468"/>
            <a:ext cx="2019447" cy="503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altLang="zh-CN" sz="2200" dirty="0">
                <a:latin typeface="Georgia" panose="02040502050405020303" pitchFamily="18" charset="0"/>
              </a:rPr>
              <a:t>Coordination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74AC07-0BAB-1482-B896-C4CACFB807CF}"/>
              </a:ext>
            </a:extLst>
          </p:cNvPr>
          <p:cNvSpPr txBox="1"/>
          <p:nvPr/>
        </p:nvSpPr>
        <p:spPr>
          <a:xfrm>
            <a:off x="1988064" y="2826486"/>
            <a:ext cx="2476500" cy="509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580"/>
              </a:lnSpc>
            </a:pPr>
            <a:r>
              <a:rPr lang="en-US" altLang="zh-CN" sz="2200" dirty="0">
                <a:latin typeface="Georgia" panose="02040502050405020303" pitchFamily="18" charset="0"/>
              </a:rPr>
              <a:t>Independent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878B4E-6E64-401B-A569-FC08D2A689E3}"/>
              </a:ext>
            </a:extLst>
          </p:cNvPr>
          <p:cNvSpPr txBox="1"/>
          <p:nvPr/>
        </p:nvSpPr>
        <p:spPr>
          <a:xfrm>
            <a:off x="838200" y="6415801"/>
            <a:ext cx="9835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050" dirty="0">
                <a:latin typeface="Book Antiqua" panose="02040602050305030304" pitchFamily="18" charset="0"/>
              </a:rPr>
              <a:t>[1]</a:t>
            </a:r>
            <a:r>
              <a:rPr lang="zh-CN" altLang="en-US" sz="1050" dirty="0">
                <a:latin typeface="Book Antiqua" panose="02040602050305030304" pitchFamily="18" charset="0"/>
              </a:rPr>
              <a:t> </a:t>
            </a:r>
            <a:r>
              <a:rPr lang="en-US" altLang="zh-CN" sz="1050" dirty="0">
                <a:latin typeface="Book Antiqua" panose="02040602050305030304" pitchFamily="18" charset="0"/>
              </a:rPr>
              <a:t>Zhe Feng, Swati Padmanabhan, and Di Wang. 2023. Online Bidding Algorithms for Return-on-Spend Constrained Advertisers. The ACM Web Conference 2023.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2CF80F1-4AD5-4C4A-7815-48AF86BFCA9D}"/>
                  </a:ext>
                </a:extLst>
              </p:cNvPr>
              <p:cNvSpPr txBox="1"/>
              <p:nvPr/>
            </p:nvSpPr>
            <p:spPr>
              <a:xfrm>
                <a:off x="918388" y="3452785"/>
                <a:ext cx="4573803" cy="2499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69875" indent="-269875">
                  <a:lnSpc>
                    <a:spcPts val="31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700" dirty="0">
                    <a:latin typeface="Georgia" panose="02040502050405020303" pitchFamily="18" charset="0"/>
                  </a:rPr>
                  <a:t>Each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bidder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runs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a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mirror-descent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algo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700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endParaRPr lang="en-US" altLang="zh-CN" sz="1700" dirty="0">
                  <a:latin typeface="Georgia" panose="02040502050405020303" pitchFamily="18" charset="0"/>
                </a:endParaRPr>
              </a:p>
              <a:p>
                <a:pPr marL="727075" lvl="2" indent="-269875">
                  <a:lnSpc>
                    <a:spcPts val="3180"/>
                  </a:lnSpc>
                  <a:buFont typeface="+mj-lt"/>
                  <a:buAutoNum type="arabicPeriod"/>
                </a:pPr>
                <a:r>
                  <a:rPr lang="en-US" altLang="zh-CN" sz="1500" b="0" dirty="0">
                    <a:latin typeface="Georgia" panose="02040502050405020303" pitchFamily="18" charset="0"/>
                  </a:rPr>
                  <a:t>Overbid</a:t>
                </a:r>
                <a:r>
                  <a:rPr lang="zh-CN" altLang="en-US" sz="1500" b="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5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1+1/</m:t>
                        </m:r>
                        <m:sSub>
                          <m:sSubPr>
                            <m:ctrlP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1500" b="0" dirty="0">
                  <a:latin typeface="Georgia" panose="02040502050405020303" pitchFamily="18" charset="0"/>
                </a:endParaRPr>
              </a:p>
              <a:p>
                <a:pPr marL="727075" lvl="2" indent="-269875">
                  <a:lnSpc>
                    <a:spcPts val="3180"/>
                  </a:lnSpc>
                  <a:buFont typeface="+mj-lt"/>
                  <a:buAutoNum type="arabicPeriod"/>
                </a:pPr>
                <a:r>
                  <a:rPr lang="en-US" altLang="zh-CN" sz="1500" dirty="0">
                    <a:latin typeface="Georgia" panose="02040502050405020303" pitchFamily="18" charset="0"/>
                  </a:rPr>
                  <a:t>Observe</a:t>
                </a:r>
                <a:r>
                  <a:rPr lang="zh-CN" altLang="en-US" sz="15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500" dirty="0">
                    <a:latin typeface="Georgia" panose="02040502050405020303" pitchFamily="18" charset="0"/>
                  </a:rPr>
                  <a:t>utility</a:t>
                </a:r>
                <a:r>
                  <a:rPr lang="zh-CN" altLang="en-US" sz="15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5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5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1500" b="0" dirty="0">
                  <a:latin typeface="Georgia" panose="02040502050405020303" pitchFamily="18" charset="0"/>
                </a:endParaRPr>
              </a:p>
              <a:p>
                <a:pPr marL="727075" lvl="2" indent="-269875">
                  <a:lnSpc>
                    <a:spcPts val="3180"/>
                  </a:lnSpc>
                  <a:buFont typeface="+mj-lt"/>
                  <a:buAutoNum type="arabicPeriod"/>
                </a:pPr>
                <a:r>
                  <a:rPr lang="en-US" altLang="zh-CN" sz="1500" dirty="0">
                    <a:latin typeface="Georgia" panose="02040502050405020303" pitchFamily="18" charset="0"/>
                  </a:rPr>
                  <a:t>Update:</a:t>
                </a:r>
                <a:r>
                  <a:rPr lang="zh-CN" altLang="en-US" sz="15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5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p>
                      <m:sSupPr>
                        <m:ctrlP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1500" dirty="0">
                  <a:latin typeface="Georgia" panose="02040502050405020303" pitchFamily="18" charset="0"/>
                </a:endParaRPr>
              </a:p>
              <a:p>
                <a:pPr marL="269875" indent="-269875">
                  <a:lnSpc>
                    <a:spcPts val="318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700" dirty="0">
                    <a:latin typeface="Georgia" panose="02040502050405020303" pitchFamily="18" charset="0"/>
                  </a:rPr>
                  <a:t>Can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be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generalized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to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a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class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of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mirror-descent</a:t>
                </a:r>
                <a:r>
                  <a:rPr lang="zh-CN" altLang="en-US" sz="17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700" dirty="0">
                    <a:latin typeface="Georgia" panose="02040502050405020303" pitchFamily="18" charset="0"/>
                  </a:rPr>
                  <a:t>algo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2CF80F1-4AD5-4C4A-7815-48AF86BFC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88" y="3452785"/>
                <a:ext cx="4573803" cy="2499467"/>
              </a:xfrm>
              <a:prstGeom prst="rect">
                <a:avLst/>
              </a:prstGeom>
              <a:blipFill>
                <a:blip r:embed="rId5"/>
                <a:stretch>
                  <a:fillRect l="-831" b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42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6092-F4E7-4124-E431-28B8D222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F58F2-3DB4-948E-8A64-D1676ECE7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28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Main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Results: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Simple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Coordination</a:t>
            </a:r>
            <a:r>
              <a:rPr lang="zh-CN" altLang="en-US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Helps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C2B6C285-8E7F-E5C8-FDCF-049B6D9A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557D92-B4F6-02A9-903F-8C8EC913C309}"/>
              </a:ext>
            </a:extLst>
          </p:cNvPr>
          <p:cNvSpPr txBox="1"/>
          <p:nvPr/>
        </p:nvSpPr>
        <p:spPr>
          <a:xfrm>
            <a:off x="1628652" y="1726140"/>
            <a:ext cx="9048996" cy="54688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3480"/>
              </a:lnSpc>
            </a:pPr>
            <a:r>
              <a:rPr lang="en-US" altLang="zh-CN" sz="2200" dirty="0">
                <a:latin typeface="Georgia" panose="02040502050405020303" pitchFamily="18" charset="0"/>
              </a:rPr>
              <a:t>Rule: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in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each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round,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only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the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coalition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bidder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with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b="1" dirty="0">
                <a:latin typeface="Georgia" panose="02040502050405020303" pitchFamily="18" charset="0"/>
              </a:rPr>
              <a:t>highest</a:t>
            </a:r>
            <a:r>
              <a:rPr lang="zh-CN" altLang="en-US" sz="2200" b="1" dirty="0">
                <a:latin typeface="Georgia" panose="02040502050405020303" pitchFamily="18" charset="0"/>
              </a:rPr>
              <a:t> </a:t>
            </a:r>
            <a:r>
              <a:rPr lang="en-US" altLang="zh-CN" sz="2200" b="1" dirty="0">
                <a:latin typeface="Georgia" panose="02040502050405020303" pitchFamily="18" charset="0"/>
              </a:rPr>
              <a:t>value</a:t>
            </a:r>
            <a:r>
              <a:rPr lang="zh-CN" altLang="en-US" sz="2200" dirty="0">
                <a:latin typeface="Georgia" panose="02040502050405020303" pitchFamily="18" charset="0"/>
              </a:rPr>
              <a:t> </a:t>
            </a:r>
            <a:r>
              <a:rPr lang="en-US" altLang="zh-CN" sz="2200" dirty="0">
                <a:latin typeface="Georgia" panose="02040502050405020303" pitchFamily="18" charset="0"/>
              </a:rPr>
              <a:t>bids.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D94545F-8DF5-D209-BC13-70ADB5A00E2F}"/>
                  </a:ext>
                </a:extLst>
              </p:cNvPr>
              <p:cNvSpPr txBox="1"/>
              <p:nvPr/>
            </p:nvSpPr>
            <p:spPr>
              <a:xfrm>
                <a:off x="736600" y="6152730"/>
                <a:ext cx="11239500" cy="568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020"/>
                  </a:lnSpc>
                </a:pPr>
                <a:r>
                  <a:rPr lang="zh-CN" altLang="en-US" sz="1400" b="0" dirty="0">
                    <a:latin typeface="Georgia" panose="02040502050405020303" pitchFamily="18" charset="0"/>
                  </a:rPr>
                  <a:t>* </a:t>
                </a:r>
                <a:r>
                  <a:rPr lang="en-US" altLang="zh-CN" sz="1400" b="0" dirty="0">
                    <a:latin typeface="Georgia" panose="02040502050405020303" pitchFamily="18" charset="0"/>
                  </a:rPr>
                  <a:t>Condition:</a:t>
                </a:r>
                <a:r>
                  <a:rPr lang="zh-CN" altLang="en-US" sz="1400" b="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1400" dirty="0">
                    <a:latin typeface="Georgia" panose="02040502050405020303" pitchFamily="18" charset="0"/>
                  </a:rPr>
                  <a:t>The top two coalition values are competitive against the outside bid: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zh-CN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4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p>
                                </m:s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zh-CN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4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≥ 0</m:t>
                    </m:r>
                  </m:oMath>
                </a14:m>
                <a:endParaRPr lang="en-US" altLang="zh-CN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D94545F-8DF5-D209-BC13-70ADB5A00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6152730"/>
                <a:ext cx="11239500" cy="568745"/>
              </a:xfrm>
              <a:prstGeom prst="rect">
                <a:avLst/>
              </a:prstGeom>
              <a:blipFill>
                <a:blip r:embed="rId3"/>
                <a:stretch>
                  <a:fillRect l="-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57AE1FB4-6918-39BC-50C8-92D5D5D52564}"/>
              </a:ext>
            </a:extLst>
          </p:cNvPr>
          <p:cNvGrpSpPr/>
          <p:nvPr/>
        </p:nvGrpSpPr>
        <p:grpSpPr>
          <a:xfrm>
            <a:off x="838200" y="2476648"/>
            <a:ext cx="11506945" cy="3281311"/>
            <a:chOff x="838199" y="2808551"/>
            <a:chExt cx="11506945" cy="3281311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E883D1A-2B0F-3431-2910-01CCC929A129}"/>
                </a:ext>
              </a:extLst>
            </p:cNvPr>
            <p:cNvSpPr txBox="1"/>
            <p:nvPr/>
          </p:nvSpPr>
          <p:spPr>
            <a:xfrm>
              <a:off x="838199" y="2808551"/>
              <a:ext cx="10716492" cy="2720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just">
                <a:lnSpc>
                  <a:spcPts val="4220"/>
                </a:lnSpc>
                <a:buAutoNum type="arabicPeriod"/>
              </a:pPr>
              <a:r>
                <a:rPr lang="en-US" altLang="zh-CN" sz="2000" b="1" u="sng" dirty="0">
                  <a:latin typeface="Book Antiqua" panose="02040602050305030304" pitchFamily="18" charset="0"/>
                </a:rPr>
                <a:t>Better</a:t>
              </a:r>
              <a:r>
                <a:rPr lang="zh-CN" altLang="en-US" sz="2000" b="1" u="sng" dirty="0">
                  <a:latin typeface="Book Antiqua" panose="02040602050305030304" pitchFamily="18" charset="0"/>
                </a:rPr>
                <a:t> </a:t>
              </a:r>
              <a:r>
                <a:rPr lang="en-US" altLang="zh-CN" sz="2000" b="1" u="sng" dirty="0" err="1">
                  <a:latin typeface="Book Antiqua" panose="02040602050305030304" pitchFamily="18" charset="0"/>
                </a:rPr>
                <a:t>RoS</a:t>
              </a:r>
              <a:r>
                <a:rPr lang="zh-CN" altLang="en-US" sz="2000" b="1" u="sng" dirty="0">
                  <a:latin typeface="Book Antiqua" panose="02040602050305030304" pitchFamily="18" charset="0"/>
                </a:rPr>
                <a:t> </a:t>
              </a:r>
              <a:r>
                <a:rPr lang="en-US" altLang="zh-CN" sz="2000" b="1" u="sng" dirty="0">
                  <a:latin typeface="Book Antiqua" panose="02040602050305030304" pitchFamily="18" charset="0"/>
                </a:rPr>
                <a:t>Compliance:</a:t>
              </a:r>
            </a:p>
            <a:p>
              <a:pPr marL="457200" indent="-457200" algn="just">
                <a:lnSpc>
                  <a:spcPts val="4220"/>
                </a:lnSpc>
                <a:buAutoNum type="arabicPeriod"/>
              </a:pPr>
              <a:endParaRPr lang="en-US" altLang="zh-CN" sz="2000" dirty="0">
                <a:latin typeface="Book Antiqua" panose="02040602050305030304" pitchFamily="18" charset="0"/>
              </a:endParaRPr>
            </a:p>
            <a:p>
              <a:pPr marL="457200" indent="-457200" algn="just">
                <a:lnSpc>
                  <a:spcPts val="4220"/>
                </a:lnSpc>
                <a:buAutoNum type="arabicPeriod"/>
              </a:pPr>
              <a:r>
                <a:rPr lang="en-US" altLang="zh-CN" sz="2000" b="1" u="sng" dirty="0">
                  <a:latin typeface="Book Antiqua" panose="02040602050305030304" pitchFamily="18" charset="0"/>
                </a:rPr>
                <a:t>Higher</a:t>
              </a:r>
              <a:r>
                <a:rPr lang="zh-CN" altLang="en-US" sz="2000" b="1" u="sng" dirty="0">
                  <a:latin typeface="Book Antiqua" panose="02040602050305030304" pitchFamily="18" charset="0"/>
                </a:rPr>
                <a:t> </a:t>
              </a:r>
              <a:r>
                <a:rPr lang="en-US" altLang="zh-CN" sz="2000" b="1" u="sng" dirty="0">
                  <a:latin typeface="Book Antiqua" panose="02040602050305030304" pitchFamily="18" charset="0"/>
                </a:rPr>
                <a:t>Coalition</a:t>
              </a:r>
              <a:r>
                <a:rPr lang="zh-CN" altLang="en-US" sz="2000" b="1" u="sng" dirty="0">
                  <a:latin typeface="Book Antiqua" panose="02040602050305030304" pitchFamily="18" charset="0"/>
                </a:rPr>
                <a:t> </a:t>
              </a:r>
              <a:r>
                <a:rPr lang="en-US" altLang="zh-CN" sz="2000" b="1" u="sng" dirty="0">
                  <a:latin typeface="Book Antiqua" panose="02040602050305030304" pitchFamily="18" charset="0"/>
                </a:rPr>
                <a:t>Value:</a:t>
              </a:r>
            </a:p>
            <a:p>
              <a:pPr marL="457200" indent="-457200" algn="just">
                <a:lnSpc>
                  <a:spcPts val="4220"/>
                </a:lnSpc>
                <a:buAutoNum type="arabicPeriod"/>
              </a:pPr>
              <a:endParaRPr lang="en-US" altLang="zh-CN" sz="2000" dirty="0">
                <a:latin typeface="Book Antiqua" panose="02040602050305030304" pitchFamily="18" charset="0"/>
              </a:endParaRPr>
            </a:p>
            <a:p>
              <a:pPr marL="457200" indent="-457200" algn="just">
                <a:lnSpc>
                  <a:spcPts val="4220"/>
                </a:lnSpc>
                <a:buAutoNum type="arabicPeriod"/>
              </a:pPr>
              <a:r>
                <a:rPr lang="en-US" altLang="zh-CN" sz="2000" b="1" u="sng" dirty="0">
                  <a:latin typeface="Book Antiqua" panose="02040602050305030304" pitchFamily="18" charset="0"/>
                </a:rPr>
                <a:t>Value</a:t>
              </a:r>
              <a:r>
                <a:rPr lang="zh-CN" altLang="en-US" sz="2000" b="1" u="sng" dirty="0">
                  <a:latin typeface="Book Antiqua" panose="02040602050305030304" pitchFamily="18" charset="0"/>
                </a:rPr>
                <a:t> </a:t>
              </a:r>
              <a:r>
                <a:rPr lang="en-US" altLang="zh-CN" sz="2000" b="1" u="sng" dirty="0">
                  <a:latin typeface="Book Antiqua" panose="02040602050305030304" pitchFamily="18" charset="0"/>
                </a:rPr>
                <a:t>Asymptotic</a:t>
              </a:r>
              <a:r>
                <a:rPr lang="zh-CN" altLang="en-US" sz="2000" b="1" u="sng" dirty="0">
                  <a:latin typeface="Book Antiqua" panose="02040602050305030304" pitchFamily="18" charset="0"/>
                </a:rPr>
                <a:t> </a:t>
              </a:r>
              <a:r>
                <a:rPr lang="en-US" altLang="zh-CN" sz="2000" b="1" u="sng" dirty="0">
                  <a:latin typeface="Book Antiqua" panose="02040602050305030304" pitchFamily="18" charset="0"/>
                </a:rPr>
                <a:t>optimality:</a:t>
              </a:r>
              <a:endParaRPr lang="en-US" altLang="zh-CN" sz="2000" dirty="0">
                <a:latin typeface="Book Antiqua" panose="0204060205030503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94B0AD4-7299-B37B-F051-B75CCD0F6E9F}"/>
                </a:ext>
              </a:extLst>
            </p:cNvPr>
            <p:cNvSpPr txBox="1"/>
            <p:nvPr/>
          </p:nvSpPr>
          <p:spPr>
            <a:xfrm>
              <a:off x="1628652" y="4426521"/>
              <a:ext cx="10716492" cy="55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4220"/>
                </a:lnSpc>
              </a:pPr>
              <a:r>
                <a:rPr lang="en-US" altLang="zh-CN" dirty="0">
                  <a:latin typeface="Book Antiqua" panose="02040602050305030304" pitchFamily="18" charset="0"/>
                </a:rPr>
                <a:t>Coordination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improves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total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value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Book Antiqua" panose="02040602050305030304" pitchFamily="18" charset="0"/>
                </a:rPr>
                <a:t>asymptotically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for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any</a:t>
              </a:r>
              <a:r>
                <a:rPr lang="zh-CN" altLang="en-US" b="1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mirror-descent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algo</a:t>
              </a:r>
              <a:endParaRPr lang="en-US" altLang="zh-CN" sz="2000" dirty="0">
                <a:latin typeface="Book Antiqua" panose="0204060205030503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2353F84-3DF1-8DCC-7DC2-7488DEE3044B}"/>
                </a:ext>
              </a:extLst>
            </p:cNvPr>
            <p:cNvSpPr txBox="1"/>
            <p:nvPr/>
          </p:nvSpPr>
          <p:spPr>
            <a:xfrm>
              <a:off x="1628652" y="5530926"/>
              <a:ext cx="10716492" cy="55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4220"/>
                </a:lnSpc>
              </a:pPr>
              <a:r>
                <a:rPr lang="en-US" altLang="zh-CN" dirty="0">
                  <a:latin typeface="Book Antiqua" panose="02040602050305030304" pitchFamily="18" charset="0"/>
                </a:rPr>
                <a:t>Under the same condition</a:t>
              </a:r>
              <a:r>
                <a:rPr lang="zh-CN" altLang="en-US" dirty="0">
                  <a:latin typeface="Book Antiqua" panose="02040602050305030304" pitchFamily="18" charset="0"/>
                </a:rPr>
                <a:t>*</a:t>
              </a:r>
              <a:r>
                <a:rPr lang="en-US" altLang="zh-CN" dirty="0">
                  <a:latin typeface="Book Antiqua" panose="02040602050305030304" pitchFamily="18" charset="0"/>
                </a:rPr>
                <a:t>, 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Book Antiqua" panose="02040602050305030304" pitchFamily="18" charset="0"/>
                </a:rPr>
                <a:t>asymptotically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no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better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coordination</a:t>
              </a:r>
              <a:r>
                <a:rPr lang="zh-CN" altLang="en-US" dirty="0">
                  <a:latin typeface="Book Antiqua" panose="02040602050305030304" pitchFamily="18" charset="0"/>
                </a:rPr>
                <a:t> </a:t>
              </a:r>
              <a:r>
                <a:rPr lang="en-US" altLang="zh-CN" dirty="0">
                  <a:latin typeface="Book Antiqua" panose="02040602050305030304" pitchFamily="18" charset="0"/>
                </a:rPr>
                <a:t>mechanism</a:t>
              </a:r>
              <a:endParaRPr lang="en-US" altLang="zh-CN" sz="2000" dirty="0">
                <a:latin typeface="Book Antiqua" panose="0204060205030503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9756BE7-D91C-CCF9-8DDF-BEDC3DFD0009}"/>
                </a:ext>
              </a:extLst>
            </p:cNvPr>
            <p:cNvSpPr txBox="1"/>
            <p:nvPr/>
          </p:nvSpPr>
          <p:spPr>
            <a:xfrm>
              <a:off x="1628652" y="3362773"/>
              <a:ext cx="10716492" cy="55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4220"/>
                </a:lnSpc>
              </a:pPr>
              <a:r>
                <a:rPr lang="en-US" altLang="zh-CN" dirty="0">
                  <a:latin typeface="Book Antiqua" panose="02040602050305030304" pitchFamily="18" charset="0"/>
                </a:rPr>
                <a:t>Exact condition</a:t>
              </a:r>
              <a:r>
                <a:rPr lang="zh-CN" altLang="en-US" dirty="0">
                  <a:latin typeface="Book Antiqua" panose="02040602050305030304" pitchFamily="18" charset="0"/>
                </a:rPr>
                <a:t>*</a:t>
              </a:r>
              <a:r>
                <a:rPr lang="en-US" altLang="zh-CN" dirty="0">
                  <a:latin typeface="Book Antiqua" panose="02040602050305030304" pitchFamily="18" charset="0"/>
                </a:rPr>
                <a:t> for every bidder’s expected utility to improve</a:t>
              </a:r>
              <a:endParaRPr lang="en-US" altLang="zh-CN" sz="20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584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33D0-84E5-2007-9A3C-EE7220D6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E3948-0A32-992C-974C-35894D89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28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Experiments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48A24AEC-B16E-35F4-E581-037F4AA9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BE3ABC-7D38-3A20-52AC-B79490438E49}"/>
              </a:ext>
            </a:extLst>
          </p:cNvPr>
          <p:cNvSpPr txBox="1"/>
          <p:nvPr/>
        </p:nvSpPr>
        <p:spPr>
          <a:xfrm>
            <a:off x="1359898" y="3954164"/>
            <a:ext cx="4609828" cy="564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altLang="zh-CN" b="0" dirty="0">
                <a:latin typeface="Georgia" panose="02040502050405020303" pitchFamily="18" charset="0"/>
              </a:rPr>
              <a:t>Fig</a:t>
            </a:r>
            <a:r>
              <a:rPr lang="zh-CN" altLang="en-US" b="0" dirty="0">
                <a:latin typeface="Georgia" panose="02040502050405020303" pitchFamily="18" charset="0"/>
              </a:rPr>
              <a:t> </a:t>
            </a:r>
            <a:r>
              <a:rPr lang="en-US" altLang="zh-CN" b="0" dirty="0">
                <a:latin typeface="Georgia" panose="02040502050405020303" pitchFamily="18" charset="0"/>
              </a:rPr>
              <a:t>1.</a:t>
            </a:r>
            <a:r>
              <a:rPr lang="zh-CN" altLang="en-US" b="0" dirty="0">
                <a:latin typeface="Georgia" panose="02040502050405020303" pitchFamily="18" charset="0"/>
              </a:rPr>
              <a:t> </a:t>
            </a:r>
            <a:r>
              <a:rPr lang="en-US" altLang="zh-CN" b="0" dirty="0">
                <a:latin typeface="Georgia" panose="02040502050405020303" pitchFamily="18" charset="0"/>
              </a:rPr>
              <a:t>Non-</a:t>
            </a:r>
            <a:r>
              <a:rPr lang="en-US" altLang="zh-CN" b="0" dirty="0" err="1">
                <a:latin typeface="Georgia" panose="02040502050405020303" pitchFamily="18" charset="0"/>
              </a:rPr>
              <a:t>i.i.d.</a:t>
            </a:r>
            <a:r>
              <a:rPr lang="zh-CN" altLang="en-US" b="0" dirty="0">
                <a:latin typeface="Georgia" panose="02040502050405020303" pitchFamily="18" charset="0"/>
              </a:rPr>
              <a:t> </a:t>
            </a:r>
            <a:r>
              <a:rPr lang="en-US" altLang="zh-CN" b="0" dirty="0">
                <a:latin typeface="Georgia" panose="02040502050405020303" pitchFamily="18" charset="0"/>
              </a:rPr>
              <a:t>Synthetic</a:t>
            </a:r>
            <a:r>
              <a:rPr lang="zh-CN" altLang="en-US" b="0" dirty="0">
                <a:latin typeface="Georgia" panose="02040502050405020303" pitchFamily="18" charset="0"/>
              </a:rPr>
              <a:t> </a:t>
            </a:r>
            <a:r>
              <a:rPr lang="en-US" altLang="zh-CN" dirty="0">
                <a:latin typeface="Georgia" panose="02040502050405020303" pitchFamily="18" charset="0"/>
              </a:rPr>
              <a:t>Data</a:t>
            </a:r>
            <a:endParaRPr lang="en-US" altLang="zh-CN" b="0" dirty="0">
              <a:latin typeface="Georgia" panose="02040502050405020303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4A4BDD-89FC-A310-7FF3-2E1662CAE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64" y="1880409"/>
            <a:ext cx="4772162" cy="212096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0805C05-39D6-750F-B7AE-222B23B519AA}"/>
              </a:ext>
            </a:extLst>
          </p:cNvPr>
          <p:cNvSpPr txBox="1"/>
          <p:nvPr/>
        </p:nvSpPr>
        <p:spPr>
          <a:xfrm>
            <a:off x="6743972" y="3954164"/>
            <a:ext cx="4609828" cy="564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altLang="zh-CN" b="0" dirty="0">
                <a:latin typeface="Georgia" panose="02040502050405020303" pitchFamily="18" charset="0"/>
              </a:rPr>
              <a:t>Fig</a:t>
            </a:r>
            <a:r>
              <a:rPr lang="zh-CN" altLang="en-US" b="0" dirty="0">
                <a:latin typeface="Georgia" panose="02040502050405020303" pitchFamily="18" charset="0"/>
              </a:rPr>
              <a:t> </a:t>
            </a:r>
            <a:r>
              <a:rPr lang="en-US" altLang="zh-CN" b="0" dirty="0">
                <a:latin typeface="Georgia" panose="02040502050405020303" pitchFamily="18" charset="0"/>
              </a:rPr>
              <a:t>2.</a:t>
            </a:r>
            <a:r>
              <a:rPr lang="zh-CN" altLang="en-US" b="0" dirty="0">
                <a:latin typeface="Georgia" panose="02040502050405020303" pitchFamily="18" charset="0"/>
              </a:rPr>
              <a:t> </a:t>
            </a:r>
            <a:r>
              <a:rPr lang="en-US" altLang="zh-CN" dirty="0" err="1">
                <a:latin typeface="Georgia" panose="02040502050405020303" pitchFamily="18" charset="0"/>
              </a:rPr>
              <a:t>iPinYou</a:t>
            </a:r>
            <a:r>
              <a:rPr lang="zh-CN" altLang="en-US" b="0" dirty="0">
                <a:latin typeface="Georgia" panose="02040502050405020303" pitchFamily="18" charset="0"/>
              </a:rPr>
              <a:t> </a:t>
            </a:r>
            <a:r>
              <a:rPr lang="en-US" altLang="zh-CN" b="0" dirty="0">
                <a:latin typeface="Georgia" panose="02040502050405020303" pitchFamily="18" charset="0"/>
              </a:rPr>
              <a:t>Dataset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FF6E5F-3FC9-75AD-7C06-68E0EFAAD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047" y="1880409"/>
            <a:ext cx="4627249" cy="20565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34B5637-6516-BDB9-C832-0F465826FB91}"/>
              </a:ext>
            </a:extLst>
          </p:cNvPr>
          <p:cNvSpPr txBox="1"/>
          <p:nvPr/>
        </p:nvSpPr>
        <p:spPr>
          <a:xfrm>
            <a:off x="1089181" y="4945974"/>
            <a:ext cx="10374317" cy="61477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4220"/>
              </a:lnSpc>
            </a:pPr>
            <a:r>
              <a:rPr lang="en-US" altLang="zh-CN" sz="1900" dirty="0">
                <a:latin typeface="Georgia" panose="02040502050405020303" pitchFamily="18" charset="0"/>
              </a:rPr>
              <a:t>Coordination improves coalition-level utility/value across synthetic and real-data experiments.</a:t>
            </a:r>
            <a:endParaRPr lang="en-US" altLang="zh-CN" sz="1900" b="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1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93D78-6F2D-27D8-407D-07E3C8EE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5C66ED2-7B71-EC04-6784-A6F8CD85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EC4B36F-DD49-B40D-6F64-78960E846658}"/>
              </a:ext>
            </a:extLst>
          </p:cNvPr>
          <p:cNvSpPr txBox="1">
            <a:spLocks/>
          </p:cNvSpPr>
          <p:nvPr/>
        </p:nvSpPr>
        <p:spPr>
          <a:xfrm>
            <a:off x="2217006" y="2722504"/>
            <a:ext cx="3310369" cy="1186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latin typeface="Book Antiqua" panose="02040602050305030304" charset="0"/>
                <a:cs typeface="Book Antiqua" panose="02040602050305030304" charset="0"/>
                <a:sym typeface="+mn-ea"/>
              </a:rPr>
              <a:t>Questions?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CF93FB9-480B-4777-F289-A369B483FB6F}"/>
              </a:ext>
            </a:extLst>
          </p:cNvPr>
          <p:cNvSpPr txBox="1">
            <a:spLocks/>
          </p:cNvSpPr>
          <p:nvPr/>
        </p:nvSpPr>
        <p:spPr>
          <a:xfrm>
            <a:off x="6627555" y="2585567"/>
            <a:ext cx="3103482" cy="1410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dirty="0">
                <a:latin typeface="Georgia" panose="02040502050405020303" pitchFamily="18" charset="0"/>
                <a:cs typeface="Book Antiqua" panose="02040602050305030304" charset="0"/>
                <a:sym typeface="+mn-ea"/>
              </a:rPr>
              <a:t>Yanru</a:t>
            </a:r>
            <a:r>
              <a:rPr lang="zh-CN" altLang="en-US" sz="2400" dirty="0">
                <a:latin typeface="Georgia" panose="02040502050405020303" pitchFamily="18" charset="0"/>
                <a:cs typeface="Book Antiqua" panose="02040602050305030304" charset="0"/>
                <a:sym typeface="+mn-ea"/>
              </a:rPr>
              <a:t> </a:t>
            </a:r>
            <a:r>
              <a:rPr lang="en-US" altLang="zh-CN" sz="2400" dirty="0">
                <a:latin typeface="Georgia" panose="02040502050405020303" pitchFamily="18" charset="0"/>
                <a:cs typeface="Book Antiqua" panose="02040602050305030304" charset="0"/>
                <a:sym typeface="+mn-ea"/>
              </a:rPr>
              <a:t>Guan</a:t>
            </a:r>
          </a:p>
          <a:p>
            <a:pPr algn="ctr"/>
            <a:r>
              <a:rPr lang="en-US" altLang="zh-CN" sz="1800" dirty="0" err="1">
                <a:latin typeface="Georgia" panose="02040502050405020303" pitchFamily="18" charset="0"/>
                <a:cs typeface="Book Antiqua" panose="02040602050305030304" charset="0"/>
                <a:sym typeface="+mn-ea"/>
              </a:rPr>
              <a:t>piscesguan@stu.pku.edu.cn</a:t>
            </a:r>
            <a:endParaRPr lang="en-US" altLang="zh-CN" sz="1800" b="1" dirty="0">
              <a:latin typeface="Georgia" panose="02040502050405020303" pitchFamily="18" charset="0"/>
              <a:cs typeface="Book Antiqua" panose="02040602050305030304" charset="0"/>
              <a:sym typeface="+mn-ea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01D0C409-AD1D-5AF9-6591-502E0A921E13}"/>
              </a:ext>
            </a:extLst>
          </p:cNvPr>
          <p:cNvCxnSpPr/>
          <p:nvPr/>
        </p:nvCxnSpPr>
        <p:spPr>
          <a:xfrm>
            <a:off x="6108357" y="2636059"/>
            <a:ext cx="0" cy="14105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52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3127dbb-266d-404d-9782-88fdee9825d1"/>
  <p:tag name="COMMONDATA" val="eyJoZGlkIjoiZGUxYzA2NjcwMjU4YmI1MmY0N2U2YTVlMmY2YzlhOW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22216</TotalTime>
  <Words>374</Words>
  <Application>Microsoft Macintosh PowerPoint</Application>
  <PresentationFormat>宽屏</PresentationFormat>
  <Paragraphs>90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Book Antiqua</vt:lpstr>
      <vt:lpstr>Calibri</vt:lpstr>
      <vt:lpstr>Cambria Math</vt:lpstr>
      <vt:lpstr>Georgia</vt:lpstr>
      <vt:lpstr>Office 主题</vt:lpstr>
      <vt:lpstr>On the Coordination of Value-Maximizing Bidders</vt:lpstr>
      <vt:lpstr>Online Ad Campaign</vt:lpstr>
      <vt:lpstr>Online Ad Campaign</vt:lpstr>
      <vt:lpstr>Online Ad Campaign</vt:lpstr>
      <vt:lpstr>Model</vt:lpstr>
      <vt:lpstr>Auto-bidder Coordination</vt:lpstr>
      <vt:lpstr>Main Results: Simple Coordination Helps</vt:lpstr>
      <vt:lpstr>Experiments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AORUS</dc:creator>
  <cp:lastModifiedBy>Yanru Guan (FESCO Adecco Human Resources)</cp:lastModifiedBy>
  <cp:revision>1412</cp:revision>
  <cp:lastPrinted>2026-02-05T01:51:53Z</cp:lastPrinted>
  <dcterms:created xsi:type="dcterms:W3CDTF">2023-10-22T12:25:00Z</dcterms:created>
  <dcterms:modified xsi:type="dcterms:W3CDTF">2026-06-13T11:02:45Z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0E95D318142341379AB614C8B6A1F6BA_12</vt:lpwstr>
  </property>
  <property fmtid="{D5CDD505-2E9C-101B-9397-08002B2CF9AE}" pid="3" name="KSOProductBuildVer">
    <vt:lpwstr>2052-12.1.0.17147</vt:lpwstr>
  </property>
</Properties>
</file>